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389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45655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AI가 SAST를 대체할 수 있는가로 시작합니다. 결론을 미리 던지되, 그 근거를 지금부터 보여드리겠습니다.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10분 구성입니다. 클라이맥스인 환각 파트에 2분 30초를 배정했습니다.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5대 한계 중 2번 환각이 오늘의 핵심입니다.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아카이브됐다는 건 코드가 고정됐다는 뜻이라 재현 가능한 벤치마크가 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발표의 한 줄입니다. 결정론이 앞뒤를 감쌉니다.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우선순위를 한계에서 역산했습니다. 예산이 3배치뿐이어도 가장 위험한 3배치를 돕니다.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6건 중 최종 1건입니다. 안 찾은 게 아니라 찾고 기각한 것입니다.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발표의 클라이맥스입니다. 세 번째는 우리 검증 코드도 통과시켰고 사람이 원본을 다시 대조해서 잡았습니다.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평가기준 3번입니다. 자연어로 부탁하면 무시되므로, 생각해야 할 것을 스키마의 필수 필드로 만들었습니다.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프롬프트를 더 세게 쓰는 대신 결정론적 코드를 추가했습니다.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셋이 서로 다른 곳을 봅니다. 자동 파이프라인이 먼저 찾은 최종 정탐은 없었습니다.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프로젝트도 검증 없이 자동 결과를 믿었다면 없는 성공 사례를 남길 뻔했습니다. 그래서 사람 정답지가 구조의 일부여야 합니다.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001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1481328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기반 MULTI-AGENT SAST · 발표 자료 · 2026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938528"/>
            <a:ext cx="64008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AI가 SAST를</a:t>
            </a:r>
            <a:endParaRPr lang="en-US" sz="4400" dirty="0"/>
          </a:p>
          <a:p>
            <a:pPr marL="0" indent="0" algn="l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대체할 수 있는가.</a:t>
            </a:r>
            <a:endParaRPr lang="en-US" sz="4400" dirty="0"/>
          </a:p>
          <a:p>
            <a:pPr marL="0" indent="0" algn="l">
              <a:lnSpc>
                <a:spcPts val="5800"/>
              </a:lnSpc>
              <a:buNone/>
            </a:pPr>
            <a:r>
              <a:rPr lang="en-US" sz="44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아직, 아니다.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566928" y="4956048"/>
            <a:ext cx="6400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300"/>
              </a:lnSpc>
              <a:buNone/>
            </a:pPr>
            <a:r>
              <a:rPr lang="en-US" sz="14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raspberrypi/userland 118,474줄에 대한 하이브리드 파이프라인 실측.</a:t>
            </a:r>
            <a:endParaRPr lang="en-US" sz="1400" dirty="0"/>
          </a:p>
          <a:p>
            <a:pPr marL="0" indent="0" algn="l">
              <a:lnSpc>
                <a:spcPts val="2300"/>
              </a:lnSpc>
              <a:buNone/>
            </a:pPr>
            <a:r>
              <a:rPr lang="en-US" sz="14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→ LLM → LLM → 결정론의 4층 샌드위치.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059168" y="1481328"/>
            <a:ext cx="4572000" cy="4206240"/>
          </a:xfrm>
          <a:prstGeom prst="rect">
            <a:avLst/>
          </a:prstGeom>
          <a:solidFill>
            <a:srgbClr val="0A1420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059168" y="1481328"/>
            <a:ext cx="4572000" cy="310896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187184" y="1581912"/>
            <a:ext cx="100584" cy="100584"/>
          </a:xfrm>
          <a:prstGeom prst="ellipse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7370064" y="1581912"/>
            <a:ext cx="100584" cy="100584"/>
          </a:xfrm>
          <a:prstGeom prst="ellipse">
            <a:avLst/>
          </a:prstGeom>
          <a:solidFill>
            <a:srgbClr val="E0B34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Shape 10"/>
          <p:cNvSpPr/>
          <p:nvPr/>
        </p:nvSpPr>
        <p:spPr>
          <a:xfrm>
            <a:off x="7552944" y="1581912"/>
            <a:ext cx="100584" cy="100584"/>
          </a:xfrm>
          <a:prstGeom prst="ellipse">
            <a:avLst/>
          </a:prstGeom>
          <a:solidFill>
            <a:srgbClr val="4CAF7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818120" y="149961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agent_pipeline.py — B083 B097 B011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7315200" y="1938528"/>
            <a:ext cx="4114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python agent_pipeline.py
</a:t>
            </a:r>
            <a:r>
              <a:rPr lang="en-US" sz="10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B083 · helpers/dtoverlay ===
</a:t>
            </a:r>
            <a:r>
              <a:rPr lang="en-US" sz="105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3 CANDIDATES_FOUND
</a:t>
            </a:r>
            <a:r>
              <a:rPr lang="en-US" sz="10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B097 · containers/mp4 ===
</a:t>
            </a:r>
            <a:r>
              <a:rPr lang="en-US" sz="105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2 CANDIDATES_FOUND
</a:t>
            </a:r>
            <a:r>
              <a:rPr lang="en-US" sz="10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=== B011 · vcos/generic ===
</a:t>
            </a:r>
            <a:r>
              <a:rPr lang="en-US" sz="105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-&gt; 1 CANDIDATES_FOUND
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tokens   : 160,814
final CONFIRMED: </a:t>
            </a:r>
            <a:r>
              <a:rPr lang="en-US" sz="10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6
hallucinations : </a:t>
            </a:r>
            <a:r>
              <a:rPr lang="en-US" sz="1050" b="1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
</a:t>
            </a:r>
            <a:r>
              <a:rPr lang="en-US" sz="105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verdict: </a:t>
            </a:r>
            <a:r>
              <a:rPr lang="en-US" sz="10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a replacement · yet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5A6E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github.com/secu-zin/SAST_Agent   ·   발표자 secu-zin   ·   10분 + Q&amp;A   ·   2026.08.10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002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AGENDA · 10분 · 10 챕터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488"/>
              </a:lnSpc>
              <a:buNone/>
            </a:pPr>
            <a:r>
              <a:rPr lang="en-US" sz="34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실패부터 판다.</a:t>
            </a:r>
            <a:endParaRPr lang="en-US" sz="3400" dirty="0"/>
          </a:p>
          <a:p>
            <a:pPr marL="0" indent="0" algn="l">
              <a:lnSpc>
                <a:spcPts val="4488"/>
              </a:lnSpc>
              <a:buNone/>
            </a:pPr>
            <a:r>
              <a:rPr lang="en-US" sz="34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그다음 설계.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8138160" y="1188720"/>
            <a:ext cx="3483864" cy="2048256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375904" y="137160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PRINCIPLE · 발표 원칙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75904" y="1682496"/>
            <a:ext cx="3063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성공을 먼저 보여주면</a:t>
            </a:r>
            <a:endParaRPr lang="en-US" sz="12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청중은 </a:t>
            </a:r>
            <a:endParaRPr lang="en-US" sz="12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의심</a:t>
            </a: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하고,</a:t>
            </a:r>
            <a:endParaRPr lang="en-US" sz="12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실패를 먼저 보여주면</a:t>
            </a:r>
            <a:endParaRPr lang="en-US" sz="12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청중은 </a:t>
            </a:r>
            <a:endParaRPr lang="en-US" sz="1250" dirty="0"/>
          </a:p>
          <a:p>
            <a:pPr marL="0" indent="0" algn="l">
              <a:lnSpc>
                <a:spcPts val="1900"/>
              </a:lnSpc>
              <a:buNone/>
            </a:pPr>
            <a:r>
              <a:rPr lang="en-US" sz="125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</a:t>
            </a:r>
            <a:r>
              <a:rPr lang="en-US" sz="12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66928" y="3767328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566928" y="331012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01·02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527048" y="331012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PROBLEM — AI SAST 5대 한계와 대상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424928" y="331012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질문이 진짜 어려운가.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799064" y="331012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2:00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279392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566928" y="3822192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03·04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1527048" y="382219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DESIGN — 샌드위치 아키텍처와 토큰 절감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424928" y="38221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LLM은 속이지 빵이 아니다.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10799064" y="3822192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2:00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66928" y="4791456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566928" y="4334256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1527048" y="4334256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RESULTS — 3개 배치의 판정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7424928" y="433425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CONFIRMED 1건, REJECTED 5건.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0799064" y="4334256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1:00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754880"/>
            <a:ext cx="11055096" cy="566928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66928" y="5303520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566928" y="4846320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06·07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1527048" y="48463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CLIMAX — 환각 3건, 그중 하나는 코드도 못 잡았다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7424928" y="48463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의미적 환각 → v3 Evidence Contract.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10799064" y="4846320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2:30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566928" y="5815584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566928" y="5358384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1527048" y="535838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PROMPT — 아이디어를 스키마로 강제한 방법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7424928" y="5358384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자연어 지시는 무시된다.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10799064" y="5358384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1:30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66928" y="6327648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566928" y="5870448"/>
            <a:ext cx="868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09·10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1527048" y="587044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CLOSE — 3자의 사각지대와 결론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7424928" y="58704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불가, 보조 가치, 남은 과제.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10799064" y="5870448"/>
            <a:ext cx="822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1:00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사례(챕터 06)에 가장 긴 시간을 배정 — 이 프로젝트의 기여가 거기 있기 때문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003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01 · 문제 정의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질문은 </a:t>
            </a:r>
            <a:r>
              <a:rPr lang="en-US" sz="27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"코드 넣고 물으면 되나?"</a:t>
            </a: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아니다.</a:t>
            </a:r>
            <a:endParaRPr lang="en-US" sz="2700" dirty="0"/>
          </a:p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5개 한계</a:t>
            </a: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아키텍처로 얼마나 상쇄하는가.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66928" y="2834640"/>
            <a:ext cx="2157984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566928" y="2834640"/>
            <a:ext cx="56693" cy="310896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822960" y="30540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822960" y="3803904"/>
            <a:ext cx="1700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</a:t>
            </a:r>
            <a:endParaRPr lang="en-US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822960" y="4626864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수백만 줄 코드베이스 전체 추적 시 토큰 한계 및 속도 저하.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2898648" y="2834640"/>
            <a:ext cx="2157984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Shape 11"/>
          <p:cNvSpPr/>
          <p:nvPr/>
        </p:nvSpPr>
        <p:spPr>
          <a:xfrm>
            <a:off x="2898648" y="2834640"/>
            <a:ext cx="56693" cy="3108960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3154680" y="30540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3154680" y="3803904"/>
            <a:ext cx="1700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오탐</a:t>
            </a:r>
            <a:endParaRPr lang="en-US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미탐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154680" y="4626864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존재하지 않는 취약점 생성, 비동기 Race Condition 미탐.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230368" y="2834640"/>
            <a:ext cx="2157984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Shape 16"/>
          <p:cNvSpPr/>
          <p:nvPr/>
        </p:nvSpPr>
        <p:spPr>
          <a:xfrm>
            <a:off x="5230368" y="2834640"/>
            <a:ext cx="56693" cy="310896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5486400" y="30540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4000" dirty="0"/>
          </a:p>
        </p:txBody>
      </p:sp>
      <p:sp>
        <p:nvSpPr>
          <p:cNvPr id="20" name="Text 18"/>
          <p:cNvSpPr/>
          <p:nvPr/>
        </p:nvSpPr>
        <p:spPr>
          <a:xfrm>
            <a:off x="5486400" y="3803904"/>
            <a:ext cx="1700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 유출</a:t>
            </a:r>
            <a:endParaRPr lang="en-US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규정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486400" y="4626864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퍼블릭 LLM API 호출 시 핵심 자산인 소스코드 외부 전송.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562088" y="2834640"/>
            <a:ext cx="2157984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1"/>
          <p:cNvSpPr/>
          <p:nvPr/>
        </p:nvSpPr>
        <p:spPr>
          <a:xfrm>
            <a:off x="7562088" y="2834640"/>
            <a:ext cx="56693" cy="310896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7818120" y="30540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7818120" y="3803904"/>
            <a:ext cx="1700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</a:t>
            </a:r>
            <a:endParaRPr lang="en-US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미반영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818120" y="4626864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중 메모리·인프라 상태는 텍스트만으로 미인지.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9893808" y="2834640"/>
            <a:ext cx="2157984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6"/>
          <p:cNvSpPr/>
          <p:nvPr/>
        </p:nvSpPr>
        <p:spPr>
          <a:xfrm>
            <a:off x="9893808" y="2834640"/>
            <a:ext cx="56693" cy="310896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10149840" y="3054096"/>
            <a:ext cx="1280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4000" dirty="0"/>
          </a:p>
        </p:txBody>
      </p:sp>
      <p:sp>
        <p:nvSpPr>
          <p:cNvPr id="30" name="Text 28"/>
          <p:cNvSpPr/>
          <p:nvPr/>
        </p:nvSpPr>
        <p:spPr>
          <a:xfrm>
            <a:off x="10149840" y="3803904"/>
            <a:ext cx="170078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프레임</a:t>
            </a:r>
            <a:endParaRPr lang="en-US" sz="1500" dirty="0"/>
          </a:p>
          <a:p>
            <a:pPr marL="0" indent="0" algn="l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워크 부재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0149840" y="4626864"/>
            <a:ext cx="16459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800"/>
              </a:lnSpc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비표준 라이브러리·독자 구조에 대한 사전 학습 지식 부재.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#2(환각)가 이 발표의 중심 — 실제로 3건을 관측했고, 그중 1건은 검증 코드도 통과했다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004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02 · 대상 · RASPBERRYPI/USERLAND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아카이브된 </a:t>
            </a:r>
            <a:r>
              <a:rPr lang="en-US" sz="29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레거시 C 118,474줄</a:t>
            </a: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2900" dirty="0"/>
          </a:p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딱 지금 다시 부각되는 표본이다.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2926080"/>
            <a:ext cx="5349240" cy="301752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877824" y="3145536"/>
            <a:ext cx="4114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PYGOUNT · 저장소 실측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41248" y="3438144"/>
            <a:ext cx="47548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118,474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877824" y="45354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.c 파일 645개  ·  코드 51.8%  ·  주석 23.9%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77824" y="4956048"/>
            <a:ext cx="4709160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877824" y="5102352"/>
            <a:ext cx="4709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2025-08-27 소유자에 의해 read-only 아카이브</a:t>
            </a:r>
            <a:r>
              <a:rPr lang="en-US" sz="1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코드가 고정되어 재현 가능한 벤치마크.</a:t>
            </a:r>
            <a:endParaRPr lang="en-US" sz="1100" dirty="0"/>
          </a:p>
          <a:p>
            <a:pPr marL="0" indent="0" algn="l">
              <a:lnSpc>
                <a:spcPts val="1700"/>
              </a:lnSpc>
              <a:buNone/>
            </a:pPr>
            <a:r>
              <a:rPr lang="en-US" sz="1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README가 스스로 "ancient and deprecated" 명시. VideoCore 독점 API.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92240" y="29260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 TOP 25 · 2025 · MITRE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492240" y="321868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 스코프 10개 CWE 중 </a:t>
            </a:r>
            <a:r>
              <a:rPr lang="en-US" sz="16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6개가 실제 Top 25 안</a:t>
            </a:r>
            <a:r>
              <a:rPr lang="en-US" sz="16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있다.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92240" y="4059936"/>
            <a:ext cx="5120640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Text 14"/>
          <p:cNvSpPr/>
          <p:nvPr/>
        </p:nvSpPr>
        <p:spPr>
          <a:xfrm>
            <a:off x="6492240" y="3730752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14032" y="3730752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CWE-787 · Out-of-bounds Write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9966960" y="3730752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12.68 · KEV 12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492240" y="4462272"/>
            <a:ext cx="5120640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492240" y="4133088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7위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114032" y="41330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CWE-416 · Use After Free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9966960" y="4133088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8.47 · KEV 14 (전체 2위)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92240" y="4864608"/>
            <a:ext cx="5120640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2"/>
          <p:cNvSpPr/>
          <p:nvPr/>
        </p:nvSpPr>
        <p:spPr>
          <a:xfrm>
            <a:off x="6492240" y="4535424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9위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114032" y="4535424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CWE-78 · OS Command Injection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9966960" y="4535424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7.85 · KEV 20 (전체 1위)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92240" y="5266944"/>
            <a:ext cx="5120640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492240" y="4937760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11위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114032" y="4937760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CWE-120 · Classic Buffer Overflow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9966960" y="4937760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6.96 · 신규 진입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92240" y="5669280"/>
            <a:ext cx="5120640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6492240" y="5340096"/>
            <a:ext cx="548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13위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114032" y="5340096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CWE-476 · NULL Pointer Dereference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9966960" y="5340096"/>
            <a:ext cx="1645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6.41 · ▲8 급상승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6492240" y="5815584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2025년판에 버퍼 오버플로우 3종이 동시 신규 진입</a:t>
            </a:r>
            <a:r>
              <a:rPr lang="en-US" sz="11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레거시 C의 메모리 안전성이 다시 부각되는 신호.</a:t>
            </a:r>
            <a:endParaRPr lang="en-US" sz="1150" dirty="0"/>
          </a:p>
        </p:txBody>
      </p:sp>
      <p:sp>
        <p:nvSpPr>
          <p:cNvPr id="36" name="Text 34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SOURCE · pygount .c LOC 실측 · MITRE CWE-1435 (2025-12-11 CISA/MITRE 공동 발표, 39,080 CVE 근거) · KEV = CISA Known Exploited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005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03 · 아키텍처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4092"/>
              </a:lnSpc>
              <a:buNone/>
            </a:pPr>
            <a:r>
              <a:rPr lang="en-US" sz="3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LLM은 이 샌드위치의 </a:t>
            </a:r>
            <a:r>
              <a:rPr lang="en-US" sz="3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속</a:t>
            </a:r>
            <a:r>
              <a:rPr lang="en-US" sz="3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이지,</a:t>
            </a:r>
            <a:endParaRPr lang="en-US" sz="3100" dirty="0"/>
          </a:p>
          <a:p>
            <a:pPr marL="0" indent="0" algn="l">
              <a:lnSpc>
                <a:spcPts val="4092"/>
              </a:lnSpc>
              <a:buNone/>
            </a:pPr>
            <a:r>
              <a:rPr lang="en-US" sz="31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빵이 아니다.</a:t>
            </a:r>
            <a:endParaRPr lang="en-US" sz="3100" dirty="0"/>
          </a:p>
        </p:txBody>
      </p:sp>
      <p:sp>
        <p:nvSpPr>
          <p:cNvPr id="7" name="Text 5"/>
          <p:cNvSpPr/>
          <p:nvPr/>
        </p:nvSpPr>
        <p:spPr>
          <a:xfrm>
            <a:off x="566928" y="296265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2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  결정론 · 무비용 · 재현 가능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382512" y="2962656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2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◆  LLM · 비용 · 확률적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66928" y="3291840"/>
            <a:ext cx="2761488" cy="228600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Text 8"/>
          <p:cNvSpPr/>
          <p:nvPr/>
        </p:nvSpPr>
        <p:spPr>
          <a:xfrm>
            <a:off x="786384" y="345643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· PRE-FILTER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786384" y="3749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Cppcheck 2.21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 Engine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86384" y="4517136"/>
            <a:ext cx="2322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결정론 진단.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토큰으로 확정 힌트 확보.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"빈 힌트 = 안전" 아님을 명시.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328416" y="41605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83864" y="3291840"/>
            <a:ext cx="2761488" cy="2286000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3703320" y="345643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· ANALYZER (LLM)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3703320" y="3749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취약점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제안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3703320" y="4517136"/>
            <a:ext cx="2322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모드: 미탐.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넓게, 관대하게 찾도록 지시.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JSON 스키마 강제 · CWE 10종.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45352" y="41605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0" y="3291840"/>
            <a:ext cx="2761488" cy="2286000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6620256" y="345643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· VERIFIER (LLM)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620256" y="3749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회의적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재검증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620256" y="4517136"/>
            <a:ext cx="2322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모드: 오탐.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목적함수 정반대. 6단계 상태.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CONFIRMED / REJECTED / ...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9162288" y="4160520"/>
            <a:ext cx="1554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9317736" y="3291840"/>
            <a:ext cx="2761488" cy="228600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9537192" y="3456432"/>
            <a:ext cx="23225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· GROUNDING CHECK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537192" y="3749040"/>
            <a:ext cx="232257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순수 Python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파일·라인 대조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537192" y="4517136"/>
            <a:ext cx="23225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 토큰으로 환각 필터링.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±20줄 윈도우 · 함수명 실존.</a:t>
            </a:r>
            <a:endParaRPr lang="en-US" sz="105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 판정 보존 후 override.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66928" y="5742432"/>
            <a:ext cx="11055096" cy="45720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841248" y="5742432"/>
            <a:ext cx="1050645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"서로 다른 실패 모드를 잡는 역할만 분리한다."</a:t>
            </a: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—  2-Agent는 절약이 아니라 목적함수 대립의 결과다. Dedup·Ranking은 결정론 영역이라 LLM으로 만들지 않았다.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6 Dedup &amp; Ranking은 설계 상태(미구현) — 3개 배치에서 중복 finding이 발생하지 않아 구현 필요가 없었다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006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04 · CHUNKING + 토큰 절감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 우선순위는 </a:t>
            </a:r>
            <a:r>
              <a:rPr lang="en-US" sz="2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양이 아니라</a:t>
            </a:r>
            <a:endParaRPr lang="en-US" sz="2900" dirty="0"/>
          </a:p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신뢰 경계(trust boundary)</a:t>
            </a: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566928" y="2889504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CHUNKER.PY · 115 배치 · TIER 규칙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3200400"/>
            <a:ext cx="5349240" cy="73152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68096" y="32004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16736" y="3310128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containers/* · dtoverlay · libfdt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1316736" y="358444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공격자가 입력을 완전히 통제 — 파일/바이너리 파서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041648"/>
            <a:ext cx="5349240" cy="73152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68096" y="4041648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16736" y="415137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interface/vcos/*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1316736" y="442569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#2(Race Condition)를 정면 시험하려고 승격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882896"/>
            <a:ext cx="5349240" cy="384048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68096" y="4882896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IPC  ·  4 MMAL  ·  5 Apps  ·  6 GPU stub  ·  9 기타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66928" y="5413248"/>
            <a:ext cx="5349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한계에서 역산한 우선순위</a:t>
            </a:r>
            <a:r>
              <a:rPr lang="en-US" sz="11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— 위험 API(strcpy/malloc) 밀도 기반 접근에서는 vcos가 후순위로 밀릴 수 있다. 그러나 "AI가 Race Condition을 미탐한다"는 한계를 시험하려면 반드시 먼저 스캔해야 한다.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92240" y="2889504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토큰 절감 · 5계층 · 실측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3200400"/>
            <a:ext cx="5129784" cy="13716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6729984" y="3328416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VERIFIER 호출 · B011 실측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29984" y="3566160"/>
            <a:ext cx="46634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50.7</a:t>
            </a:r>
            <a:r>
              <a:rPr lang="en-US" sz="46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%</a:t>
            </a:r>
            <a:endParaRPr lang="en-US" sz="4600" dirty="0"/>
          </a:p>
        </p:txBody>
      </p:sp>
      <p:sp>
        <p:nvSpPr>
          <p:cNvPr id="23" name="Text 21"/>
          <p:cNvSpPr/>
          <p:nvPr/>
        </p:nvSpPr>
        <p:spPr>
          <a:xfrm>
            <a:off x="6729984" y="4279392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42,875 → 21,127 토큰 · 후보 0건이면 Verifier 미호출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92240" y="4919472"/>
            <a:ext cx="5129784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492240" y="4626864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912864" y="4626864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비-코드 파일 배제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601200" y="4626864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828개 중 183개(22.1%) 제외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92240" y="5248656"/>
            <a:ext cx="5129784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6492240" y="4956048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912864" y="4956048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Tier 기반 조기 종료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9601200" y="4956048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위험도 상위 배치부터 실행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492240" y="5577840"/>
            <a:ext cx="5129784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6492240" y="5285232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12864" y="5285232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Rule Engine 선행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9601200" y="5285232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Cppcheck 0토큰 힌트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492240" y="5907024"/>
            <a:ext cx="5129784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7" name="Text 35"/>
          <p:cNvSpPr/>
          <p:nvPr/>
        </p:nvSpPr>
        <p:spPr>
          <a:xfrm>
            <a:off x="6492240" y="5614416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12864" y="5614416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Verifier 조건부 호출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9601200" y="5614416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50.7% 실측 절감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6492240" y="6236208"/>
            <a:ext cx="5129784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9"/>
          <p:cNvSpPr/>
          <p:nvPr/>
        </p:nvSpPr>
        <p:spPr>
          <a:xfrm>
            <a:off x="6492240" y="594360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912864" y="594360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Thinking 최소화 + JSON 강제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9601200" y="5943600"/>
            <a:ext cx="20208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비가시 3,928 추정 → Run C 0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50.7%는 동일 배치 관측 대조 — 두 실행의 모델이 달라(flash / flash-lite) 엄밀한 ON/OFF ablation은 아니다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007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05 · 3개 배치 실험 · RUN A · GEMINI-FLASH-LATEST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파이프라인이 낸 6건 → </a:t>
            </a:r>
            <a:r>
              <a:rPr lang="en-US" sz="27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CONFIRMED는 1건</a:t>
            </a: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2700" dirty="0"/>
          </a:p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"CONFIRMED만 3건"을 의도적으로 피했다.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566928" y="2926080"/>
            <a:ext cx="3685032" cy="658368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68096" y="3017520"/>
            <a:ext cx="3282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 B083 · TIER 1 · 2,992 LINES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768096" y="323697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helpers/dtoverlay/dtoverlay.c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3584448"/>
            <a:ext cx="3685032" cy="2340864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1" name="Text 9"/>
          <p:cNvSpPr/>
          <p:nvPr/>
        </p:nvSpPr>
        <p:spPr>
          <a:xfrm>
            <a:off x="768096" y="3712464"/>
            <a:ext cx="3282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판정 · 사람 재검증 후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768096" y="3968496"/>
            <a:ext cx="3282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r>
              <a:rPr lang="en-US" sz="15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/ 3 CONFIRMED</a:t>
            </a:r>
            <a:endParaRPr lang="en-US" sz="4000" dirty="0"/>
          </a:p>
        </p:txBody>
      </p:sp>
      <p:sp>
        <p:nvSpPr>
          <p:cNvPr id="13" name="Shape 11"/>
          <p:cNvSpPr/>
          <p:nvPr/>
        </p:nvSpPr>
        <p:spPr>
          <a:xfrm>
            <a:off x="768096" y="4663440"/>
            <a:ext cx="32826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Text 12"/>
          <p:cNvSpPr/>
          <p:nvPr/>
        </p:nvSpPr>
        <p:spPr>
          <a:xfrm>
            <a:off x="768096" y="4791456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정탐: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CWE-476, line 2320, dtoverlay_dup_property — malloc NULL 미검사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68096" y="5358384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2건: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line 2517 sprintf, line 1836 strcpy — 존재하지 않는 함수/주석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34840" y="2926080"/>
            <a:ext cx="3685032" cy="658368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4636008" y="3017520"/>
            <a:ext cx="3282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 B097 · TIER 1 · 1,879 LINES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636008" y="323697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containers/mp4/mp4_reader.c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434840" y="3584448"/>
            <a:ext cx="3685032" cy="2340864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8"/>
          <p:cNvSpPr/>
          <p:nvPr/>
        </p:nvSpPr>
        <p:spPr>
          <a:xfrm>
            <a:off x="4636008" y="3712464"/>
            <a:ext cx="3282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8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판정 · 근거 기반 기각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4636008" y="3968496"/>
            <a:ext cx="3282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r>
              <a:rPr lang="en-US" sz="15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/ 2 CONFIRMED</a:t>
            </a:r>
            <a:endParaRPr lang="en-US" sz="4000" dirty="0"/>
          </a:p>
        </p:txBody>
      </p:sp>
      <p:sp>
        <p:nvSpPr>
          <p:cNvPr id="22" name="Shape 20"/>
          <p:cNvSpPr/>
          <p:nvPr/>
        </p:nvSpPr>
        <p:spPr>
          <a:xfrm>
            <a:off x="4636008" y="4663440"/>
            <a:ext cx="32826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4636008" y="4791456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전건 REJECTED: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Verifier가 근거를 대며 기각. CWE-190은 선행 클램프, CWE-125는 도달 불가 분기.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636008" y="5358384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설계 목표 달성: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"AI가 찾은 것을 AI가 기각했다"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8302752" y="2926080"/>
            <a:ext cx="3685032" cy="658368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8503920" y="3017520"/>
            <a:ext cx="32826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 B011 · TIER 2 · 2,257 LINES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503920" y="3236976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interface/vcos/generic/*.c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302752" y="3584448"/>
            <a:ext cx="3685032" cy="2340864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9" name="Text 27"/>
          <p:cNvSpPr/>
          <p:nvPr/>
        </p:nvSpPr>
        <p:spPr>
          <a:xfrm>
            <a:off x="8503920" y="3712464"/>
            <a:ext cx="32826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8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CONFIRMED → 사람 재검증 후 정정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8503920" y="3968496"/>
            <a:ext cx="3282696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r>
              <a:rPr lang="en-US" sz="15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/ 1 CONFIRMED</a:t>
            </a:r>
            <a:endParaRPr lang="en-US" sz="4000" dirty="0"/>
          </a:p>
        </p:txBody>
      </p:sp>
      <p:sp>
        <p:nvSpPr>
          <p:cNvPr id="31" name="Shape 29"/>
          <p:cNvSpPr/>
          <p:nvPr/>
        </p:nvSpPr>
        <p:spPr>
          <a:xfrm>
            <a:off x="8503920" y="4663440"/>
            <a:ext cx="3282696" cy="7315"/>
          </a:xfrm>
          <a:prstGeom prst="rect">
            <a:avLst/>
          </a:prstGeom>
          <a:solidFill>
            <a:srgbClr val="F3C6C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2" name="Text 30"/>
          <p:cNvSpPr/>
          <p:nvPr/>
        </p:nvSpPr>
        <p:spPr>
          <a:xfrm>
            <a:off x="8503920" y="4791456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정정: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CWE-416을 CONFIRMED로 통과 → 원본 재대조 결과 가드 3개가 이미 방어 → REJECTED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03920" y="5358384"/>
            <a:ext cx="328269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클라이맥스: </a:t>
            </a: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사례가 다음 챕터의 주제다.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160,814 토큰 · usage_metadata 실측 · 서로 다른 판정 유형이 나오도록 3개 배치를 의도적으로 선정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008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06 · 클라이맥스 · 환각 3건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함수명도 맞고, 줄 번호도 맞았다.</a:t>
            </a:r>
            <a:endParaRPr lang="en-US" sz="2900" dirty="0"/>
          </a:p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그런데 그 두 사실을 엮은 </a:t>
            </a:r>
            <a:r>
              <a:rPr lang="en-US" sz="29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결론이 틀렸다.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2962656"/>
            <a:ext cx="3685032" cy="2962656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86384" y="312724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1 · 구문적 환각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786384" y="3383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존재하지 않는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 · 라인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86384" y="4133088"/>
            <a:ext cx="3246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주장: line 2517,
</a:t>
            </a:r>
            <a:r>
              <a:rPr lang="en-US" sz="9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dtoverlay_init_map,
</a:t>
            </a: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sprintf → CWE-120
</a:t>
            </a:r>
            <a:r>
              <a:rPr lang="en-US" sz="95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실제: 함수명 자체가 없음.
</a:t>
            </a: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sprintf도 없음. 다른 함수.
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786384" y="5394960"/>
            <a:ext cx="3246120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86384" y="54681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GROUNDING CHECK V2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786384" y="56327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잡음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4434840" y="2962656"/>
            <a:ext cx="3685032" cy="2962656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4654296" y="312724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2 · 구문적 환각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654296" y="3383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주석을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취약 코드로 오인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654296" y="4133088"/>
            <a:ext cx="3246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LLM 주장: line 1836
</a:t>
            </a: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strcpy → CWE-120
</a:t>
            </a:r>
            <a:r>
              <a:rPr lang="en-US" sz="95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실제 line 1836:
</a:t>
            </a:r>
            <a:r>
              <a:rPr lang="en-US" sz="95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 Copy the override ... */
</a:t>
            </a: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코드가 아니라 주석.
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654296" y="5394960"/>
            <a:ext cx="3246120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4654296" y="54681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GROUNDING CHECK V2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654296" y="56327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  잡음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8302752" y="2962656"/>
            <a:ext cx="3685032" cy="2962656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8522208" y="3127248"/>
            <a:ext cx="3246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유형 3 · 의미적 환각 · NEW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522208" y="338328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실존.</a:t>
            </a:r>
            <a:endParaRPr lang="en-US" sz="1700" dirty="0"/>
          </a:p>
          <a:p>
            <a:pPr marL="0" indent="0" algn="l">
              <a:lnSpc>
                <a:spcPts val="24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결론만 거짓.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8522208" y="4133088"/>
            <a:ext cx="32461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95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B011 · CWE-416 UAF
line 348 — 실존 ✓
vcos_..._blockpool_free ✓
그러나 elem_from_handle에
이미 mem NULL 체크 있음.
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8522208" y="5394960"/>
            <a:ext cx="3246120" cy="7315"/>
          </a:xfrm>
          <a:prstGeom prst="rect">
            <a:avLst/>
          </a:prstGeom>
          <a:solidFill>
            <a:srgbClr val="F0909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Text 24"/>
          <p:cNvSpPr/>
          <p:nvPr/>
        </p:nvSpPr>
        <p:spPr>
          <a:xfrm>
            <a:off x="8522208" y="5468112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50" b="1" kern="0" spc="100" dirty="0">
                <a:solidFill>
                  <a:srgbClr val="FFD9DD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GROUNDING CHECK V2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522208" y="5632704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  못 잡음. 사람이 잡음.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5A6E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Grounding Check의 실제 검출률 — 구문적 환각 2/2, 의미적 환각 0/1. 존재성 검증만으로는 원리상 잡을 수 없다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009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07 · 프롬프트 엔지니어링 · 아이디어를 스키마로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"잘 검증해줘"는 무시된다.</a:t>
            </a:r>
            <a:endParaRPr lang="en-US" sz="2900" dirty="0"/>
          </a:p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생각을 </a:t>
            </a:r>
            <a:r>
              <a:rPr lang="en-US" sz="29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 필드로 강제</a:t>
            </a: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했다.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566928" y="2926080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개발 중 AI에게 실제 입력한 프롬프트 · 원문 6건 중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3200400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49808" y="32004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"다른 애가 말한 거 가져왔는데 둘을 조합해줘"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986784" y="3200400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61104" y="3200400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복수 AI 교차검증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3712464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49808" y="3712464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"무조건 있는 출처로만, 교차 검증 수행"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986784" y="3712464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261104" y="3712464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단계 환각 차단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66928" y="4224528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Text 15"/>
          <p:cNvSpPr/>
          <p:nvPr/>
        </p:nvSpPr>
        <p:spPr>
          <a:xfrm>
            <a:off x="749808" y="4224528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"결과 파일 바뀐 게 맞나? 흠"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986784" y="4224528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61104" y="4224528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결과를 의심 → 환각 발각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66928" y="4736592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Text 19"/>
          <p:cNvSpPr/>
          <p:nvPr/>
        </p:nvSpPr>
        <p:spPr>
          <a:xfrm>
            <a:off x="749808" y="4736592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"반영 안 한 근거까지 다 말해주고"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3986784" y="4736592"/>
            <a:ext cx="2377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261104" y="4736592"/>
            <a:ext cx="15727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피드백도 검증 대상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66928" y="5248656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749808" y="5248656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이 태도를 코드로 옮긴 것이 Verifier + Grounding Check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92240" y="2926080"/>
            <a:ext cx="5129784" cy="283464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5"/>
          <p:cNvSpPr/>
          <p:nvPr/>
        </p:nvSpPr>
        <p:spPr>
          <a:xfrm>
            <a:off x="6492240" y="2926080"/>
            <a:ext cx="5129784" cy="292608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6675120" y="293522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(A) ANALYZER_SYSTEM_PROMPT · 도구 내부 프롬프트 발췌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6711696" y="3328416"/>
            <a:ext cx="47091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Scope: analyze ONLY the following CWE
classes — low-level C library,
not a web app.
</a:t>
            </a:r>
            <a:r>
              <a:rPr lang="en-US" sz="9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 NOT report web-related classes
(XSS, SQLi, CSRF).
</a:t>
            </a:r>
            <a:r>
              <a:rPr lang="en-US" sz="90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Do not invent functions, variables,
  or line numbers.
</a:t>
            </a: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If certainty depends on runtime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behavior you cannot verify, mark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"runtime_dependent": true</a:t>
            </a:r>
            <a:endParaRPr lang="en-US" sz="900" dirty="0"/>
          </a:p>
          <a:p>
            <a:pPr marL="0" indent="0" algn="l">
              <a:lnSpc>
                <a:spcPts val="1350"/>
              </a:lnSpc>
              <a:buNone/>
            </a:pPr>
            <a:r>
              <a:rPr lang="en-US" sz="9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instead of guessing.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5870448"/>
            <a:ext cx="11055096" cy="384048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9"/>
          <p:cNvSpPr/>
          <p:nvPr/>
        </p:nvSpPr>
        <p:spPr>
          <a:xfrm>
            <a:off x="804672" y="5870448"/>
            <a:ext cx="1057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(A) 도구 내부 프롬프트</a:t>
            </a:r>
            <a:r>
              <a:rPr lang="en-US" sz="10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§17.1 전문   ·   </a:t>
            </a: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(B) 개발 중 입력한 프롬프트</a:t>
            </a:r>
            <a:r>
              <a:rPr lang="en-US" sz="10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§7.2 원문 6건   ·   v0→v1→v2 진화 §7.3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"시키고 받기"가 아니라 "시키고 · 의심하고 · 대조하고 · 정정하기" — 이 태도를 코드로 옮긴 것이 Verifier + Grounding Check 구조다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08 · 대응 · V2 → V3 EVIDENCE CONTRACT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"검증하라"는 지시로는 검증을 강제할 수 없다.</a:t>
            </a:r>
            <a:endParaRPr lang="en-US" sz="2700" dirty="0"/>
          </a:p>
          <a:p>
            <a:pPr marL="0" indent="0" algn="l">
              <a:lnSpc>
                <a:spcPts val="3564"/>
              </a:lnSpc>
              <a:buNone/>
            </a:pPr>
            <a:r>
              <a:rPr lang="en-US" sz="27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진짜 대조는 코드로 한다.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566928" y="2926080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V2 · 현재 구현 · 존재성 검증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66928" y="3255264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9" name="Text 7"/>
          <p:cNvSpPr/>
          <p:nvPr/>
        </p:nvSpPr>
        <p:spPr>
          <a:xfrm>
            <a:off x="768096" y="3255264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133856" y="3255264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파일이 이 배치에 속하는가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66928" y="3785616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/>
          <p:nvPr/>
        </p:nvSpPr>
        <p:spPr>
          <a:xfrm>
            <a:off x="768096" y="3785616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33856" y="3785616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 번호가 파일 범위 안인가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66928" y="4315968"/>
            <a:ext cx="5349240" cy="457200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/>
          <p:nvPr/>
        </p:nvSpPr>
        <p:spPr>
          <a:xfrm>
            <a:off x="768096" y="4315968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✔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133856" y="43159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함수명이 ±20줄 안에 있는가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66928" y="4882896"/>
            <a:ext cx="5349240" cy="475488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68096" y="4882896"/>
            <a:ext cx="4937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의미적 환각은 원리상 통과 — 함수·라인이 실존하기 때문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92240" y="2926080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1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V3 · 설계 제안 · 존재성 → 근거 검증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92240" y="3255264"/>
            <a:ext cx="5129784" cy="2103120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9"/>
          <p:cNvSpPr/>
          <p:nvPr/>
        </p:nvSpPr>
        <p:spPr>
          <a:xfrm>
            <a:off x="6492240" y="3255264"/>
            <a:ext cx="5129784" cy="274320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Text 20"/>
          <p:cNvSpPr/>
          <p:nvPr/>
        </p:nvSpPr>
        <p:spPr>
          <a:xfrm>
            <a:off x="6675120" y="3264408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AA7B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v3 · Evidence Contract schema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711696" y="3621024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"cwe":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3BA9D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"CWE-416"</a:t>
            </a: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"line": 348,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"sink_api"</a:t>
            </a: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"vcos_free",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"evidence_lines"</a:t>
            </a: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[377, 378, 379],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E6394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"claimed_absence_of_guard"</a:t>
            </a: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[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"elem_from_handle"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92240" y="5468112"/>
            <a:ext cx="5129784" cy="475488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3"/>
          <p:cNvSpPr/>
          <p:nvPr/>
        </p:nvSpPr>
        <p:spPr>
          <a:xfrm>
            <a:off x="6693408" y="5468112"/>
            <a:ext cx="47548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Validator가 "가드 없다"는 주장을 정규식으로 대조 → </a:t>
            </a: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NEEDS_HUMAN_REVIEW</a:t>
            </a:r>
            <a:r>
              <a:rPr lang="en-US" sz="10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격하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566928" y="6035040"/>
            <a:ext cx="11055096" cy="384048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804672" y="6035040"/>
            <a:ext cx="10579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일반화:  </a:t>
            </a:r>
            <a:r>
              <a:rPr lang="en-US" sz="1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LLM이 만든 "사실 주장"(파일·함수·라인·API)은 LLM이 아니라 코드로 검증한다. LLM은 "판단"에만 쓴다.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v3는 실패를 관측한 뒤 그 실패의 정확한 모양에 맞춰 역산한 설계 — 아이디어만 있는 개선안이 아니다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011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09 · 사람 × RULE ENGINE × LLM의 상호 사각지대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셋은 </a:t>
            </a:r>
            <a:r>
              <a:rPr lang="en-US" sz="29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서로 다른 곳</a:t>
            </a:r>
            <a:r>
              <a:rPr lang="en-US" sz="29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본다.</a:t>
            </a:r>
            <a:endParaRPr lang="en-US" sz="2900" dirty="0"/>
          </a:p>
          <a:p>
            <a:pPr marL="0" indent="0" algn="l">
              <a:lnSpc>
                <a:spcPts val="3828"/>
              </a:lnSpc>
              <a:buNone/>
            </a:pPr>
            <a:r>
              <a:rPr lang="en-US" sz="29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셋이 함께 있어야 한다.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2962656"/>
            <a:ext cx="11055096" cy="420624"/>
          </a:xfrm>
          <a:prstGeom prst="rect">
            <a:avLst/>
          </a:prstGeom>
          <a:solidFill>
            <a:srgbClr val="10223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86384" y="29626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BATCH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2121408" y="296265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찾은 것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504688" y="2962656"/>
            <a:ext cx="3200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파이프라인이 찾은 것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887968" y="2962656"/>
            <a:ext cx="2606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일치 · 판정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4169664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86384" y="34747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B083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786384" y="37490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dtoverlay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121408" y="3493008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CWE-476 · line 2320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dtoverlay_dup_property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malloc NULL 미검사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504688" y="3493008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이슈 (line 2321, 1줄 오차)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신규 2건 (전부 환각)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887968" y="3493008"/>
            <a:ext cx="2606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건 일치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2건 환각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956048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Text 17"/>
          <p:cNvSpPr/>
          <p:nvPr/>
        </p:nvSpPr>
        <p:spPr>
          <a:xfrm>
            <a:off x="786384" y="426110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B097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786384" y="453542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containers/mp4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121408" y="4279392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3단계 콜체인 추적: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mp4_read_box_stsz → mp4_cache_table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클램프 로직 확인 → REJECTED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504688" y="4279392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두 지점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mp4_read_sample_table · mp4_read_box_stsd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둘 다 REJECTED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887968" y="4279392"/>
            <a:ext cx="2606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 동일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추적 경로 완전히 다름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4974336"/>
            <a:ext cx="11055096" cy="768096"/>
          </a:xfrm>
          <a:prstGeom prst="rect">
            <a:avLst/>
          </a:prstGeom>
          <a:solidFill>
            <a:srgbClr val="FDEEF1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23"/>
          <p:cNvSpPr/>
          <p:nvPr/>
        </p:nvSpPr>
        <p:spPr>
          <a:xfrm>
            <a:off x="566928" y="4974336"/>
            <a:ext cx="50292" cy="768096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6" name="Shape 24"/>
          <p:cNvSpPr/>
          <p:nvPr/>
        </p:nvSpPr>
        <p:spPr>
          <a:xfrm>
            <a:off x="566928" y="5742432"/>
            <a:ext cx="11055096" cy="7315"/>
          </a:xfrm>
          <a:prstGeom prst="rect">
            <a:avLst/>
          </a:prstGeom>
          <a:solidFill>
            <a:srgbClr val="DDE3EA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5"/>
          <p:cNvSpPr/>
          <p:nvPr/>
        </p:nvSpPr>
        <p:spPr>
          <a:xfrm>
            <a:off x="786384" y="504748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B011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86384" y="532180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vcos/generic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2121408" y="5065776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CWE-362 · vcos_msg_peek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append + post 비원자성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RUNTIME_VALIDATION_REQUIRED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504688" y="5065776"/>
            <a:ext cx="3291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완전히 다른 파일: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vcos_generic_blockpool_free · CWE-416</a:t>
            </a:r>
            <a:endParaRPr lang="en-US" sz="1000" dirty="0"/>
          </a:p>
          <a:p>
            <a:pPr marL="0" indent="0" algn="l">
              <a:lnSpc>
                <a:spcPts val="1500"/>
              </a:lnSpc>
              <a:buNone/>
            </a:pPr>
            <a:r>
              <a:rPr lang="en-US" sz="1000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CONFIRMED → REJECTED로 정정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887968" y="5065776"/>
            <a:ext cx="26060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 파이프라인의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유일한 후보가</a:t>
            </a:r>
            <a:endParaRPr lang="en-US" sz="1100" dirty="0"/>
          </a:p>
          <a:p>
            <a:pPr marL="0" indent="0" algn="l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의미적 환각으로 판명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5815584"/>
            <a:ext cx="11055096" cy="420624"/>
          </a:xfrm>
          <a:prstGeom prst="rect">
            <a:avLst/>
          </a:prstGeom>
          <a:solidFill>
            <a:srgbClr val="F4F6F8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804672" y="5815584"/>
            <a:ext cx="105796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표본에서 자동 파이프라인이 사람보다 먼저 찾아낸, 최종까지 살아남은 정탐 사례는 없다. </a:t>
            </a:r>
            <a:r>
              <a:rPr lang="en-US" sz="1050" dirty="0">
                <a:solidFill>
                  <a:srgbClr val="0D1B2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사실을 그대로 적는 것이, 없는 성공을 남기는 것보다 훨씬 중요하다.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정답지가 없으면 "0건 = 안전"과 "0건 = 탐지 실패"를 구분할 수 없다 — Run B/C에서 B083의 확정 CWE-476을 두 번 놓쳤다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560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SAST</a:t>
            </a:r>
            <a:r>
              <a:rPr lang="en-US" sz="1300" b="1" kern="0" spc="30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 </a:t>
            </a:r>
            <a:r>
              <a:rPr lang="en-US" sz="1300" b="1" kern="0" spc="3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AGENT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878824" y="2560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012 / 012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603504"/>
            <a:ext cx="11055096" cy="10973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/>
          <p:nvPr/>
        </p:nvSpPr>
        <p:spPr>
          <a:xfrm>
            <a:off x="566928" y="868680"/>
            <a:ext cx="110550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2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CHAPTER 10 · 결론 · 5대 한계 대응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50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대체 </a:t>
            </a:r>
            <a:r>
              <a:rPr lang="en-US" sz="30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아직 불가능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3000" dirty="0"/>
          </a:p>
          <a:p>
            <a:pPr marL="0" indent="0" algn="l">
              <a:lnSpc>
                <a:spcPts val="396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보완 </a:t>
            </a:r>
            <a:r>
              <a:rPr lang="en-US" sz="300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 확인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남은 과제 </a:t>
            </a:r>
            <a:r>
              <a:rPr lang="en-US" sz="3000" b="1" dirty="0">
                <a:solidFill>
                  <a:srgbClr val="6B7A8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명시</a:t>
            </a: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566928" y="2999232"/>
            <a:ext cx="11055096" cy="365760"/>
          </a:xfrm>
          <a:prstGeom prst="rect">
            <a:avLst/>
          </a:prstGeom>
          <a:solidFill>
            <a:srgbClr val="16283C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8" name="Text 6"/>
          <p:cNvSpPr/>
          <p:nvPr/>
        </p:nvSpPr>
        <p:spPr>
          <a:xfrm>
            <a:off x="786384" y="29992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225296" y="299923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493008" y="2999232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대응 · 실측 근거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9619488" y="2999232"/>
            <a:ext cx="1920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10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수준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566928" y="3858768"/>
            <a:ext cx="11055096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3" name="Text 11"/>
          <p:cNvSpPr/>
          <p:nvPr/>
        </p:nvSpPr>
        <p:spPr>
          <a:xfrm>
            <a:off x="786384" y="34015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225296" y="34015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Window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93008" y="34015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Chunker 115배치 · 조건부 호출 50.7% 절감 · 비가시 토큰 3,928 추정 → Run C inferred 0 관측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9619488" y="34015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상당 부분 해결  </a:t>
            </a:r>
            <a:r>
              <a:rPr lang="en-US" sz="105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●●●●○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315968"/>
            <a:ext cx="11055096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8" name="Text 16"/>
          <p:cNvSpPr/>
          <p:nvPr/>
        </p:nvSpPr>
        <p:spPr>
          <a:xfrm>
            <a:off x="786384" y="38587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225296" y="38587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환각 오탐 · 미탐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493008" y="38587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Grounding Check 구문적 2/2 · 의미적 0/1 → v3 Evidence Contract 제안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19488" y="38587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부분 해결  </a:t>
            </a:r>
            <a:r>
              <a:rPr lang="en-US" sz="105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●●●○○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66928" y="4773168"/>
            <a:ext cx="11055096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Text 21"/>
          <p:cNvSpPr/>
          <p:nvPr/>
        </p:nvSpPr>
        <p:spPr>
          <a:xfrm>
            <a:off x="786384" y="43159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225296" y="43159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소스 유출 · 규정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3493008" y="43159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call_gemini() 단일 함수 격리 — 로컬 LLM 교체 시 나머지 무수정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9619488" y="43159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미해결  </a:t>
            </a:r>
            <a:r>
              <a:rPr lang="en-US" sz="1050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●○○○○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66928" y="5230368"/>
            <a:ext cx="11055096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6"/>
          <p:cNvSpPr/>
          <p:nvPr/>
        </p:nvSpPr>
        <p:spPr>
          <a:xfrm>
            <a:off x="786384" y="47731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1225296" y="47731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런타임 미반영</a:t>
            </a:r>
            <a:endParaRPr lang="en-US" sz="1250" dirty="0"/>
          </a:p>
        </p:txBody>
      </p:sp>
      <p:sp>
        <p:nvSpPr>
          <p:cNvPr id="30" name="Text 28"/>
          <p:cNvSpPr/>
          <p:nvPr/>
        </p:nvSpPr>
        <p:spPr>
          <a:xfrm>
            <a:off x="3493008" y="47731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RUNTIME_VALIDATION_REQUIRED 상태값 — 은폐 대신 명시 (B011 CWE-362)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9619488" y="47731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원리상 미해결  </a:t>
            </a: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●●○○○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66928" y="5687568"/>
            <a:ext cx="11055096" cy="7315"/>
          </a:xfrm>
          <a:prstGeom prst="rect">
            <a:avLst/>
          </a:prstGeom>
          <a:solidFill>
            <a:srgbClr val="24384F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Text 31"/>
          <p:cNvSpPr/>
          <p:nvPr/>
        </p:nvSpPr>
        <p:spPr>
          <a:xfrm>
            <a:off x="786384" y="5230368"/>
            <a:ext cx="365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E6394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1225296" y="5230368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사내 프레임워크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3493008" y="523036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AA7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자체를 컨텍스트로 제공 · Coverity lock_order 주석이 B011 단서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9619488" y="5230368"/>
            <a:ext cx="1965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상당 부분 완화  </a:t>
            </a:r>
            <a:r>
              <a:rPr lang="en-US" sz="1050" dirty="0">
                <a:solidFill>
                  <a:srgbClr val="3BA9D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●●●●○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566928" y="5779008"/>
            <a:ext cx="11055096" cy="512064"/>
          </a:xfrm>
          <a:prstGeom prst="rect">
            <a:avLst/>
          </a:prstGeom>
          <a:solidFill>
            <a:srgbClr val="E63946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8" name="Text 36"/>
          <p:cNvSpPr/>
          <p:nvPr/>
        </p:nvSpPr>
        <p:spPr>
          <a:xfrm>
            <a:off x="841248" y="5779008"/>
            <a:ext cx="1050645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"이번 실험에서 AI가 더 많은 최종 정탐을 확보했다는 증거는 없다."</a:t>
            </a:r>
            <a:r>
              <a:rPr 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현재 AI의 가치는 SAST 대체가 아니라 분석 · triage · 검증 보조에 있다.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566928" y="6327648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kern="0" spc="100" dirty="0">
                <a:solidFill>
                  <a:srgbClr val="5A6E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github.com/secu-zin/SAST_Agent   ·   report.md 전문   ·   Q&amp;A 6문항 준비 완료 (§16.4)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2544</Words>
  <Application>Microsoft Office PowerPoint</Application>
  <PresentationFormat>와이드스크린</PresentationFormat>
  <Paragraphs>375</Paragraphs>
  <Slides>12</Slides>
  <Notes>12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Malgun Gothic</vt:lpstr>
      <vt:lpstr>Arial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기반 Multi-Agent SAST</dc:title>
  <dc:subject>PptxGenJS Presentation</dc:subject>
  <dc:creator>유진 (secu-zin)</dc:creator>
  <cp:lastModifiedBy>eujin174</cp:lastModifiedBy>
  <cp:revision>1</cp:revision>
  <dcterms:created xsi:type="dcterms:W3CDTF">2026-08-10T11:04:22Z</dcterms:created>
  <dcterms:modified xsi:type="dcterms:W3CDTF">2026-08-10T12:10:19Z</dcterms:modified>
</cp:coreProperties>
</file>